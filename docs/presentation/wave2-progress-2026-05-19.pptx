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1A1A1"/>
    <a:srgbClr val="5169CF"/>
    <a:srgbClr val="5F75D3"/>
    <a:srgbClr val="EFA5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46" autoAdjust="0"/>
    <p:restoredTop sz="76848" autoAdjust="0"/>
  </p:normalViewPr>
  <p:slideViewPr>
    <p:cSldViewPr snapToGrid="0">
      <p:cViewPr varScale="1">
        <p:scale>
          <a:sx n="90" d="100"/>
          <a:sy n="90" d="100"/>
        </p:scale>
        <p:origin x="117" y="45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10" Type="http://schemas.openxmlformats.org/officeDocument/2006/relationships/tableStyles" Target="tableStyles.xml"/><Relationship Id="rId9" Type="http://schemas.openxmlformats.org/officeDocument/2006/relationships/theme" Target="theme/theme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suan lin" userId="75d96c0581c73542" providerId="LiveId" clId="{9148F619-F19C-4406-B500-EC4893408186}"/>
    <pc:docChg chg="custSel addSld modSld">
      <pc:chgData name="hsuan lin" userId="75d96c0581c73542" providerId="LiveId" clId="{9148F619-F19C-4406-B500-EC4893408186}" dt="2021-11-04T09:01:06.892" v="216" actId="20577"/>
      <pc:docMkLst>
        <pc:docMk/>
      </pc:docMkLst>
      <pc:sldChg chg="modSp mod">
        <pc:chgData name="hsuan lin" userId="75d96c0581c73542" providerId="LiveId" clId="{9148F619-F19C-4406-B500-EC4893408186}" dt="2021-11-04T09:00:58.512" v="215" actId="20577"/>
        <pc:sldMkLst>
          <pc:docMk/>
          <pc:sldMk cId="3319272975" sldId="257"/>
        </pc:sldMkLst>
        <pc:spChg chg="mod">
          <ac:chgData name="hsuan lin" userId="75d96c0581c73542" providerId="LiveId" clId="{9148F619-F19C-4406-B500-EC4893408186}" dt="2021-11-04T09:00:26.817" v="209" actId="14100"/>
          <ac:spMkLst>
            <pc:docMk/>
            <pc:sldMk cId="3319272975" sldId="257"/>
            <ac:spMk id="2" creationId="{D717A888-3A67-4167-B3A0-985464D8B0A4}"/>
          </ac:spMkLst>
        </pc:spChg>
        <pc:spChg chg="mod">
          <ac:chgData name="hsuan lin" userId="75d96c0581c73542" providerId="LiveId" clId="{9148F619-F19C-4406-B500-EC4893408186}" dt="2021-11-04T09:00:58.512" v="215" actId="20577"/>
          <ac:spMkLst>
            <pc:docMk/>
            <pc:sldMk cId="3319272975" sldId="257"/>
            <ac:spMk id="3" creationId="{42923D2B-85CD-4334-BA04-D855720022E2}"/>
          </ac:spMkLst>
        </pc:spChg>
      </pc:sldChg>
      <pc:sldChg chg="modSp mod modNotesTx">
        <pc:chgData name="hsuan lin" userId="75d96c0581c73542" providerId="LiveId" clId="{9148F619-F19C-4406-B500-EC4893408186}" dt="2021-11-04T08:48:45.440" v="108"/>
        <pc:sldMkLst>
          <pc:docMk/>
          <pc:sldMk cId="1648703993" sldId="258"/>
        </pc:sldMkLst>
        <pc:spChg chg="mod">
          <ac:chgData name="hsuan lin" userId="75d96c0581c73542" providerId="LiveId" clId="{9148F619-F19C-4406-B500-EC4893408186}" dt="2021-11-04T07:26:18.623" v="95" actId="2711"/>
          <ac:spMkLst>
            <pc:docMk/>
            <pc:sldMk cId="1648703993" sldId="258"/>
            <ac:spMk id="3" creationId="{65806503-5C01-4B3E-86E9-D48C4E519BF5}"/>
          </ac:spMkLst>
        </pc:spChg>
      </pc:sldChg>
      <pc:sldChg chg="modSp mod">
        <pc:chgData name="hsuan lin" userId="75d96c0581c73542" providerId="LiveId" clId="{9148F619-F19C-4406-B500-EC4893408186}" dt="2021-11-04T07:03:01.412" v="80" actId="403"/>
        <pc:sldMkLst>
          <pc:docMk/>
          <pc:sldMk cId="2307341328" sldId="259"/>
        </pc:sldMkLst>
        <pc:spChg chg="mod">
          <ac:chgData name="hsuan lin" userId="75d96c0581c73542" providerId="LiveId" clId="{9148F619-F19C-4406-B500-EC4893408186}" dt="2021-11-04T07:03:01.412" v="80" actId="403"/>
          <ac:spMkLst>
            <pc:docMk/>
            <pc:sldMk cId="2307341328" sldId="259"/>
            <ac:spMk id="2" creationId="{BE9F8501-D86B-4B94-9825-ED91F8F5CEDA}"/>
          </ac:spMkLst>
        </pc:spChg>
      </pc:sldChg>
      <pc:sldChg chg="modSp mod">
        <pc:chgData name="hsuan lin" userId="75d96c0581c73542" providerId="LiveId" clId="{9148F619-F19C-4406-B500-EC4893408186}" dt="2021-11-04T06:54:32.653" v="18" actId="255"/>
        <pc:sldMkLst>
          <pc:docMk/>
          <pc:sldMk cId="4084710029" sldId="260"/>
        </pc:sldMkLst>
        <pc:spChg chg="mod">
          <ac:chgData name="hsuan lin" userId="75d96c0581c73542" providerId="LiveId" clId="{9148F619-F19C-4406-B500-EC4893408186}" dt="2021-11-04T06:54:32.653" v="18" actId="255"/>
          <ac:spMkLst>
            <pc:docMk/>
            <pc:sldMk cId="4084710029" sldId="260"/>
            <ac:spMk id="2" creationId="{74B3FBEF-0419-4E49-9342-98A87E502371}"/>
          </ac:spMkLst>
        </pc:spChg>
      </pc:sldChg>
      <pc:sldChg chg="modSp mod">
        <pc:chgData name="hsuan lin" userId="75d96c0581c73542" providerId="LiveId" clId="{9148F619-F19C-4406-B500-EC4893408186}" dt="2021-11-04T08:51:43.745" v="136" actId="20577"/>
        <pc:sldMkLst>
          <pc:docMk/>
          <pc:sldMk cId="4154017034" sldId="261"/>
        </pc:sldMkLst>
        <pc:spChg chg="mod">
          <ac:chgData name="hsuan lin" userId="75d96c0581c73542" providerId="LiveId" clId="{9148F619-F19C-4406-B500-EC4893408186}" dt="2021-11-04T06:54:43.552" v="29" actId="20577"/>
          <ac:spMkLst>
            <pc:docMk/>
            <pc:sldMk cId="4154017034" sldId="261"/>
            <ac:spMk id="2" creationId="{BE4DD4BB-4ED2-4BE3-8164-0A694E54E0B1}"/>
          </ac:spMkLst>
        </pc:spChg>
        <pc:spChg chg="mod">
          <ac:chgData name="hsuan lin" userId="75d96c0581c73542" providerId="LiveId" clId="{9148F619-F19C-4406-B500-EC4893408186}" dt="2021-11-04T08:51:43.745" v="136" actId="20577"/>
          <ac:spMkLst>
            <pc:docMk/>
            <pc:sldMk cId="4154017034" sldId="261"/>
            <ac:spMk id="3" creationId="{1EE41F18-CC6C-4053-8089-19B11BC56C59}"/>
          </ac:spMkLst>
        </pc:spChg>
      </pc:sldChg>
      <pc:sldChg chg="modSp new mod">
        <pc:chgData name="hsuan lin" userId="75d96c0581c73542" providerId="LiveId" clId="{9148F619-F19C-4406-B500-EC4893408186}" dt="2021-11-04T08:59:22.104" v="194" actId="403"/>
        <pc:sldMkLst>
          <pc:docMk/>
          <pc:sldMk cId="1838510390" sldId="262"/>
        </pc:sldMkLst>
        <pc:spChg chg="mod">
          <ac:chgData name="hsuan lin" userId="75d96c0581c73542" providerId="LiveId" clId="{9148F619-F19C-4406-B500-EC4893408186}" dt="2021-11-04T08:59:22.104" v="194" actId="403"/>
          <ac:spMkLst>
            <pc:docMk/>
            <pc:sldMk cId="1838510390" sldId="262"/>
            <ac:spMk id="2" creationId="{86A5D7C6-39BD-4B31-881D-928C71686C8B}"/>
          </ac:spMkLst>
        </pc:spChg>
      </pc:sldChg>
      <pc:sldChg chg="modSp new mod">
        <pc:chgData name="hsuan lin" userId="75d96c0581c73542" providerId="LiveId" clId="{9148F619-F19C-4406-B500-EC4893408186}" dt="2021-11-04T09:00:43.110" v="213" actId="20577"/>
        <pc:sldMkLst>
          <pc:docMk/>
          <pc:sldMk cId="739603479" sldId="263"/>
        </pc:sldMkLst>
        <pc:spChg chg="mod">
          <ac:chgData name="hsuan lin" userId="75d96c0581c73542" providerId="LiveId" clId="{9148F619-F19C-4406-B500-EC4893408186}" dt="2021-11-04T09:00:43.110" v="213" actId="20577"/>
          <ac:spMkLst>
            <pc:docMk/>
            <pc:sldMk cId="739603479" sldId="263"/>
            <ac:spMk id="2" creationId="{1A90561D-D2D3-4419-968D-2E4828D05CA7}"/>
          </ac:spMkLst>
        </pc:spChg>
      </pc:sldChg>
      <pc:sldChg chg="modSp new mod">
        <pc:chgData name="hsuan lin" userId="75d96c0581c73542" providerId="LiveId" clId="{9148F619-F19C-4406-B500-EC4893408186}" dt="2021-11-04T09:01:06.892" v="216" actId="20577"/>
        <pc:sldMkLst>
          <pc:docMk/>
          <pc:sldMk cId="1413169759" sldId="264"/>
        </pc:sldMkLst>
        <pc:spChg chg="mod">
          <ac:chgData name="hsuan lin" userId="75d96c0581c73542" providerId="LiveId" clId="{9148F619-F19C-4406-B500-EC4893408186}" dt="2021-11-04T09:01:06.892" v="216" actId="20577"/>
          <ac:spMkLst>
            <pc:docMk/>
            <pc:sldMk cId="1413169759" sldId="264"/>
            <ac:spMk id="2" creationId="{EC75C8D8-4D3E-4377-8793-F374301D37E4}"/>
          </ac:spMkLst>
        </pc:spChg>
      </pc:sldChg>
      <pc:sldChg chg="new">
        <pc:chgData name="hsuan lin" userId="75d96c0581c73542" providerId="LiveId" clId="{9148F619-F19C-4406-B500-EC4893408186}" dt="2021-11-04T08:51:11.087" v="112" actId="680"/>
        <pc:sldMkLst>
          <pc:docMk/>
          <pc:sldMk cId="271767711" sldId="265"/>
        </pc:sldMkLst>
      </pc:sldChg>
      <pc:sldChg chg="new">
        <pc:chgData name="hsuan lin" userId="75d96c0581c73542" providerId="LiveId" clId="{9148F619-F19C-4406-B500-EC4893408186}" dt="2021-11-04T08:51:13.589" v="113" actId="680"/>
        <pc:sldMkLst>
          <pc:docMk/>
          <pc:sldMk cId="2483118633" sldId="266"/>
        </pc:sldMkLst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787" tIns="47393" rIns="94787" bIns="47393" rtlCol="0"/>
          <a:lstStyle>
            <a:lvl1pPr algn="r">
              <a:defRPr sz="1200"/>
            </a:lvl1pPr>
          </a:lstStyle>
          <a:p>
            <a:fld id="{6E184DA3-7456-445E-B789-C4A3C11A868B}" type="datetimeFigureOut">
              <a:rPr lang="zh-TW" altLang="en-US" smtClean="0"/>
              <a:t>2025/10/22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87" tIns="47393" rIns="94787" bIns="47393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79"/>
          </a:xfrm>
          <a:prstGeom prst="rect">
            <a:avLst/>
          </a:prstGeom>
        </p:spPr>
        <p:txBody>
          <a:bodyPr vert="horz" lIns="94787" tIns="47393" rIns="94787" bIns="47393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3" y="9721106"/>
            <a:ext cx="3078427" cy="513507"/>
          </a:xfrm>
          <a:prstGeom prst="rect">
            <a:avLst/>
          </a:prstGeom>
        </p:spPr>
        <p:txBody>
          <a:bodyPr vert="horz" lIns="94787" tIns="47393" rIns="94787" bIns="47393" rtlCol="0" anchor="b"/>
          <a:lstStyle>
            <a:lvl1pPr algn="r">
              <a:defRPr sz="1200"/>
            </a:lvl1pPr>
          </a:lstStyle>
          <a:p>
            <a:fld id="{E0BAEFB6-4136-4525-B476-790D9DDC512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0600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3" Type="http://schemas.openxmlformats.org/officeDocument/2006/relationships/hyperlink" Target="http://www.csie.ntpu.edu.tw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hyperlink" Target="http://www.csie.ntpu.edu.tw/" TargetMode="Externa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805DCD4E-0403-46F3-858B-5BF02EA5CC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Line 12">
            <a:extLst>
              <a:ext uri="{FF2B5EF4-FFF2-40B4-BE49-F238E27FC236}">
                <a16:creationId xmlns:a16="http://schemas.microsoft.com/office/drawing/2014/main" id="{C41B0D54-DF44-4127-9A39-B15ADA472D5D}"/>
              </a:ext>
            </a:extLst>
          </p:cNvPr>
          <p:cNvSpPr>
            <a:spLocks noChangeShapeType="1"/>
          </p:cNvSpPr>
          <p:nvPr/>
        </p:nvSpPr>
        <p:spPr bwMode="auto">
          <a:xfrm>
            <a:off x="1001184" y="2312353"/>
            <a:ext cx="0" cy="7620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 baseline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5" name="Line 13">
            <a:extLst>
              <a:ext uri="{FF2B5EF4-FFF2-40B4-BE49-F238E27FC236}">
                <a16:creationId xmlns:a16="http://schemas.microsoft.com/office/drawing/2014/main" id="{B2658828-45E5-4D11-9E76-B8625DD6F827}"/>
              </a:ext>
            </a:extLst>
          </p:cNvPr>
          <p:cNvSpPr>
            <a:spLocks noChangeShapeType="1"/>
          </p:cNvSpPr>
          <p:nvPr/>
        </p:nvSpPr>
        <p:spPr bwMode="auto">
          <a:xfrm>
            <a:off x="683685" y="2844165"/>
            <a:ext cx="109431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 baseline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pic>
        <p:nvPicPr>
          <p:cNvPr id="7" name="Picture 2" descr="http://www.csie.ntpu.edu.tw/../images/com_logo.png">
            <a:hlinkClick r:id="rId3"/>
            <a:extLst>
              <a:ext uri="{FF2B5EF4-FFF2-40B4-BE49-F238E27FC236}">
                <a16:creationId xmlns:a16="http://schemas.microsoft.com/office/drawing/2014/main" id="{D0820140-DB07-4D07-B368-B3793CA83A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684" y="473075"/>
            <a:ext cx="4707824" cy="496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950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1132417" y="1581209"/>
            <a:ext cx="10363200" cy="1143000"/>
          </a:xfrm>
        </p:spPr>
        <p:txBody>
          <a:bodyPr/>
          <a:lstStyle>
            <a:lvl1pPr>
              <a:defRPr sz="3200" b="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de-DE"/>
          </a:p>
        </p:txBody>
      </p:sp>
      <p:sp>
        <p:nvSpPr>
          <p:cNvPr id="149509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780117" y="2935777"/>
            <a:ext cx="8534400" cy="1438103"/>
          </a:xfrm>
        </p:spPr>
        <p:txBody>
          <a:bodyPr/>
          <a:lstStyle>
            <a:lvl1pPr marL="0" indent="0" algn="ctr">
              <a:buFont typeface="Symbol" pitchFamily="18" charset="2"/>
              <a:buNone/>
              <a:defRPr sz="2800"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r>
              <a:rPr lang="zh-TW" altLang="en-US"/>
              <a:t>按一下以編輯母片副標題樣式</a:t>
            </a:r>
            <a:endParaRPr lang="de-DE" dirty="0"/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FC584363-FC33-4D49-8A59-4FE845139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0501" y="6347507"/>
            <a:ext cx="1621367" cy="394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Rectangle 28">
            <a:extLst>
              <a:ext uri="{FF2B5EF4-FFF2-40B4-BE49-F238E27FC236}">
                <a16:creationId xmlns:a16="http://schemas.microsoft.com/office/drawing/2014/main" id="{8B435778-36B6-470A-939D-7E55FA1407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34700" y="6340475"/>
            <a:ext cx="8890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kumimoji="0"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>
              <a:defRPr/>
            </a:pPr>
            <a:fld id="{69B0E891-B98C-44D2-AD8F-C733BD4A6D71}" type="slidenum">
              <a:rPr lang="zh-TW" altLang="en-US" sz="1400" baseline="0" smtClean="0">
                <a:latin typeface="Times New Roman" panose="02020603050405020304" pitchFamily="18" charset="0"/>
                <a:ea typeface="標楷體" panose="03000509000000000000" pitchFamily="65" charset="-120"/>
              </a:rPr>
              <a:pPr>
                <a:defRPr/>
              </a:pPr>
              <a:t>‹#›</a:t>
            </a:fld>
            <a:endParaRPr lang="en-US" altLang="zh-TW" sz="1400" baseline="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13559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8">
            <a:extLst>
              <a:ext uri="{FF2B5EF4-FFF2-40B4-BE49-F238E27FC236}">
                <a16:creationId xmlns:a16="http://schemas.microsoft.com/office/drawing/2014/main" id="{46B19FCD-9041-49CE-B2A7-94FA63606C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34700" y="6340475"/>
            <a:ext cx="8890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1" fontAlgn="base" hangingPunct="1">
              <a:spcBef>
                <a:spcPct val="0"/>
              </a:spcBef>
              <a:spcAft>
                <a:spcPct val="0"/>
              </a:spcAft>
              <a:defRPr kumimoji="0" sz="14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5pPr>
            <a:lvl6pPr marL="22860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6pPr>
            <a:lvl7pPr marL="27432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7pPr>
            <a:lvl8pPr marL="32004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8pPr>
            <a:lvl9pPr marL="3657600" algn="l" defTabSz="914400" rtl="0" eaLnBrk="1" latinLnBrk="0" hangingPunct="1">
              <a:defRPr kumimoji="1" sz="2000" kern="1200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pitchFamily="18" charset="-120"/>
                <a:cs typeface="+mn-cs"/>
              </a:defRPr>
            </a:lvl9pPr>
          </a:lstStyle>
          <a:p>
            <a:pPr>
              <a:defRPr/>
            </a:pPr>
            <a:fld id="{69B0E891-B98C-44D2-AD8F-C733BD4A6D71}" type="slidenum">
              <a:rPr lang="zh-TW" altLang="en-US" sz="1400" baseline="0" smtClean="0">
                <a:latin typeface="Times New Roman" panose="02020603050405020304" pitchFamily="18" charset="0"/>
                <a:ea typeface="標楷體" panose="03000509000000000000" pitchFamily="65" charset="-120"/>
              </a:rPr>
              <a:pPr>
                <a:defRPr/>
              </a:pPr>
              <a:t>‹#›</a:t>
            </a:fld>
            <a:endParaRPr lang="en-US" altLang="zh-TW" sz="1400" baseline="0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  <a:lvl2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2pPr>
            <a:lvl3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3pPr>
            <a:lvl4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4pPr>
            <a:lvl5pPr>
              <a:defRPr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27232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id="{DA6B2D65-7BAF-43C7-B91E-A39E5D3D33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493407"/>
          </a:xfrm>
        </p:spPr>
        <p:txBody>
          <a:bodyPr anchor="t"/>
          <a:lstStyle>
            <a:lvl1pPr algn="l">
              <a:defRPr sz="26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83684" y="2906713"/>
            <a:ext cx="10395475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1EDF3CA7-0D5E-4815-9A06-C63810AA43C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5" name="Line 12">
            <a:extLst>
              <a:ext uri="{FF2B5EF4-FFF2-40B4-BE49-F238E27FC236}">
                <a16:creationId xmlns:a16="http://schemas.microsoft.com/office/drawing/2014/main" id="{36761D3C-A27C-42D7-BF5A-4B09483B2316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79159" y="4406900"/>
            <a:ext cx="0" cy="7620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/>
          </a:p>
        </p:txBody>
      </p:sp>
      <p:sp>
        <p:nvSpPr>
          <p:cNvPr id="6" name="Line 13">
            <a:extLst>
              <a:ext uri="{FF2B5EF4-FFF2-40B4-BE49-F238E27FC236}">
                <a16:creationId xmlns:a16="http://schemas.microsoft.com/office/drawing/2014/main" id="{214F02BF-83A2-4F84-B9F8-6E492AF23311}"/>
              </a:ext>
            </a:extLst>
          </p:cNvPr>
          <p:cNvSpPr>
            <a:spLocks noChangeShapeType="1"/>
          </p:cNvSpPr>
          <p:nvPr/>
        </p:nvSpPr>
        <p:spPr bwMode="auto">
          <a:xfrm>
            <a:off x="683685" y="4900307"/>
            <a:ext cx="109431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E992FE68-6C66-4246-818C-F3747853A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0501" y="6347507"/>
            <a:ext cx="1621367" cy="394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2">
            <a:hlinkClick r:id="rId4"/>
            <a:extLst>
              <a:ext uri="{FF2B5EF4-FFF2-40B4-BE49-F238E27FC236}">
                <a16:creationId xmlns:a16="http://schemas.microsoft.com/office/drawing/2014/main" id="{82D95A3C-1537-438F-9A34-CDA2FCD2D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75140" y="340072"/>
            <a:ext cx="4451144" cy="469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38706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65152" y="914400"/>
            <a:ext cx="5556249" cy="5191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324601" y="914400"/>
            <a:ext cx="5558367" cy="5191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28">
            <a:extLst>
              <a:ext uri="{FF2B5EF4-FFF2-40B4-BE49-F238E27FC236}">
                <a16:creationId xmlns:a16="http://schemas.microsoft.com/office/drawing/2014/main" id="{C777D388-01C3-486D-A87C-B924DC57D28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2394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177801"/>
            <a:ext cx="10972800" cy="575732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28">
            <a:extLst>
              <a:ext uri="{FF2B5EF4-FFF2-40B4-BE49-F238E27FC236}">
                <a16:creationId xmlns:a16="http://schemas.microsoft.com/office/drawing/2014/main" id="{B243DEEE-11C0-45AB-B44D-DA0457D580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693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50333" y="150813"/>
            <a:ext cx="11438467" cy="5715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28">
            <a:extLst>
              <a:ext uri="{FF2B5EF4-FFF2-40B4-BE49-F238E27FC236}">
                <a16:creationId xmlns:a16="http://schemas.microsoft.com/office/drawing/2014/main" id="{C39D7682-F964-461A-AAAE-372642E0A38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2969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8">
            <a:extLst>
              <a:ext uri="{FF2B5EF4-FFF2-40B4-BE49-F238E27FC236}">
                <a16:creationId xmlns:a16="http://schemas.microsoft.com/office/drawing/2014/main" id="{F27029BD-E6AF-407F-ACA5-95E13AE34AC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52943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599" y="228601"/>
            <a:ext cx="11356623" cy="505355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948267"/>
            <a:ext cx="7199488" cy="517789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948268"/>
            <a:ext cx="4011084" cy="517789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Rectangle 28">
            <a:extLst>
              <a:ext uri="{FF2B5EF4-FFF2-40B4-BE49-F238E27FC236}">
                <a16:creationId xmlns:a16="http://schemas.microsoft.com/office/drawing/2014/main" id="{E618970D-DD05-4ECF-8733-3A668C35F98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46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94783" y="135466"/>
            <a:ext cx="11360151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939800"/>
            <a:ext cx="7315200" cy="378777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028672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Rectangle 28">
            <a:extLst>
              <a:ext uri="{FF2B5EF4-FFF2-40B4-BE49-F238E27FC236}">
                <a16:creationId xmlns:a16="http://schemas.microsoft.com/office/drawing/2014/main" id="{C45A8477-25E2-4F3E-A2CA-70F6EA99A4A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7096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A425C922-DC02-4EB7-87C5-86932890B28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9364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139063" y="931333"/>
            <a:ext cx="2842683" cy="517419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550334" y="931333"/>
            <a:ext cx="8329084" cy="517419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Rectangle 28">
            <a:extLst>
              <a:ext uri="{FF2B5EF4-FFF2-40B4-BE49-F238E27FC236}">
                <a16:creationId xmlns:a16="http://schemas.microsoft.com/office/drawing/2014/main" id="{42F45190-893E-4A4D-AC70-724C5AF4D21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D5892C-9710-48A3-8372-2122A7AD32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70658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9ABF8AB-B0B8-4681-BD44-8CF5E845AA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26" name="Rectangle 4">
            <a:extLst>
              <a:ext uri="{FF2B5EF4-FFF2-40B4-BE49-F238E27FC236}">
                <a16:creationId xmlns:a16="http://schemas.microsoft.com/office/drawing/2014/main" id="{E37310E9-2521-4BB7-B15D-959B68467A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65151" y="141288"/>
            <a:ext cx="1141730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endParaRPr lang="en-US" altLang="zh-TW" dirty="0"/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794864E5-9918-4FF7-9866-35661BF2624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65151" y="914400"/>
            <a:ext cx="11417300" cy="519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 err="1"/>
              <a:t>Klicken</a:t>
            </a:r>
            <a:r>
              <a:rPr lang="en-US" altLang="zh-TW" dirty="0"/>
              <a:t xml:space="preserve"> Sie, um die </a:t>
            </a:r>
            <a:r>
              <a:rPr lang="en-US" altLang="zh-TW" dirty="0" err="1"/>
              <a:t>Formate</a:t>
            </a:r>
            <a:r>
              <a:rPr lang="en-US" altLang="zh-TW" dirty="0"/>
              <a:t xml:space="preserve"> des </a:t>
            </a:r>
            <a:r>
              <a:rPr lang="en-US" altLang="zh-TW" dirty="0" err="1"/>
              <a:t>Vorlagentextes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zu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bearbeiten</a:t>
            </a:r>
            <a:endParaRPr lang="en-US" altLang="zh-TW" dirty="0"/>
          </a:p>
          <a:p>
            <a:pPr lvl="1"/>
            <a:r>
              <a:rPr lang="en-US" altLang="zh-TW" dirty="0" err="1"/>
              <a:t>Zweite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Ebene</a:t>
            </a:r>
            <a:endParaRPr lang="en-US" altLang="zh-TW" dirty="0"/>
          </a:p>
          <a:p>
            <a:pPr lvl="2"/>
            <a:r>
              <a:rPr lang="en-US" altLang="zh-TW" dirty="0" err="1"/>
              <a:t>Dritte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Ebene</a:t>
            </a:r>
            <a:endParaRPr lang="en-US" altLang="zh-TW" dirty="0"/>
          </a:p>
          <a:p>
            <a:pPr lvl="3"/>
            <a:r>
              <a:rPr lang="en-US" altLang="zh-TW" dirty="0" err="1"/>
              <a:t>Vierte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Ebene</a:t>
            </a:r>
            <a:endParaRPr lang="en-US" altLang="zh-TW" dirty="0"/>
          </a:p>
          <a:p>
            <a:pPr lvl="4"/>
            <a:r>
              <a:rPr lang="en-US" altLang="zh-TW" dirty="0" err="1"/>
              <a:t>Fünfte</a:t>
            </a:r>
            <a:r>
              <a:rPr lang="en-US" altLang="zh-TW" dirty="0"/>
              <a:t xml:space="preserve"> </a:t>
            </a:r>
            <a:r>
              <a:rPr lang="en-US" altLang="zh-TW" dirty="0" err="1"/>
              <a:t>Ebene</a:t>
            </a:r>
            <a:endParaRPr lang="en-US" altLang="zh-TW" dirty="0"/>
          </a:p>
        </p:txBody>
      </p:sp>
      <p:sp>
        <p:nvSpPr>
          <p:cNvPr id="1028" name="Line 22">
            <a:extLst>
              <a:ext uri="{FF2B5EF4-FFF2-40B4-BE49-F238E27FC236}">
                <a16:creationId xmlns:a16="http://schemas.microsoft.com/office/drawing/2014/main" id="{AB7F6124-04C7-45E8-AA65-7F9F759D65F9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451" y="252413"/>
            <a:ext cx="0" cy="692150"/>
          </a:xfrm>
          <a:prstGeom prst="line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 baseline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1029" name="Line 24">
            <a:extLst>
              <a:ext uri="{FF2B5EF4-FFF2-40B4-BE49-F238E27FC236}">
                <a16:creationId xmlns:a16="http://schemas.microsoft.com/office/drawing/2014/main" id="{C8074568-B491-4B67-9A93-41BE6E79B6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09551" y="784225"/>
            <a:ext cx="11772900" cy="0"/>
          </a:xfrm>
          <a:prstGeom prst="line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 baseline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1030" name="Line 25">
            <a:extLst>
              <a:ext uri="{FF2B5EF4-FFF2-40B4-BE49-F238E27FC236}">
                <a16:creationId xmlns:a16="http://schemas.microsoft.com/office/drawing/2014/main" id="{311CE126-5E96-48EA-A8E4-423F29F2B71C}"/>
              </a:ext>
            </a:extLst>
          </p:cNvPr>
          <p:cNvSpPr>
            <a:spLocks noChangeShapeType="1"/>
          </p:cNvSpPr>
          <p:nvPr/>
        </p:nvSpPr>
        <p:spPr bwMode="auto">
          <a:xfrm>
            <a:off x="209551" y="6240463"/>
            <a:ext cx="11772900" cy="0"/>
          </a:xfrm>
          <a:prstGeom prst="line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zh-TW" altLang="en-US" sz="2000" baseline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148508" name="Rectangle 28">
            <a:extLst>
              <a:ext uri="{FF2B5EF4-FFF2-40B4-BE49-F238E27FC236}">
                <a16:creationId xmlns:a16="http://schemas.microsoft.com/office/drawing/2014/main" id="{87C75FDA-A8B1-4916-8A2B-A105EA9C4F4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934700" y="6340475"/>
            <a:ext cx="8890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kumimoji="0" sz="1400" baseline="0"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45D5892C-9710-48A3-8372-2122A7AD32EA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9" name="Picture 13">
            <a:extLst>
              <a:ext uri="{FF2B5EF4-FFF2-40B4-BE49-F238E27FC236}">
                <a16:creationId xmlns:a16="http://schemas.microsoft.com/office/drawing/2014/main" id="{866DE21F-4EA5-4E05-A2F0-D1DDC61DC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0501" y="6347507"/>
            <a:ext cx="1621367" cy="3940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65327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tx1"/>
          </a:solidFill>
          <a:latin typeface="Arial" pitchFamily="34" charset="0"/>
        </a:defRPr>
      </a:lvl9pPr>
    </p:titleStyle>
    <p:bodyStyle>
      <a:lvl1pPr marL="285750" indent="-2857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anose="05050102010706020507" pitchFamily="18" charset="2"/>
        <a:buChar char="·"/>
        <a:defRPr sz="2400" baseline="0">
          <a:solidFill>
            <a:srgbClr val="000000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762000" indent="-2857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anose="05050102010706020507" pitchFamily="18" charset="2"/>
        <a:buChar char="·"/>
        <a:defRPr sz="2000" baseline="0">
          <a:solidFill>
            <a:srgbClr val="000000"/>
          </a:solidFill>
          <a:latin typeface="Times New Roman" panose="02020603050405020304" pitchFamily="18" charset="0"/>
          <a:ea typeface="標楷體" panose="03000509000000000000" pitchFamily="65" charset="-120"/>
        </a:defRPr>
      </a:lvl2pPr>
      <a:lvl3pPr marL="1238250" indent="-2857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anose="05050102010706020507" pitchFamily="18" charset="2"/>
        <a:buChar char="·"/>
        <a:defRPr sz="2400" baseline="0">
          <a:solidFill>
            <a:srgbClr val="000000"/>
          </a:solidFill>
          <a:latin typeface="Times New Roman" panose="02020603050405020304" pitchFamily="18" charset="0"/>
          <a:ea typeface="標楷體" panose="03000509000000000000" pitchFamily="65" charset="-120"/>
        </a:defRPr>
      </a:lvl3pPr>
      <a:lvl4pPr marL="16192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anose="05050102010706020507" pitchFamily="18" charset="2"/>
        <a:buChar char="·"/>
        <a:defRPr sz="1600" baseline="0">
          <a:solidFill>
            <a:srgbClr val="000000"/>
          </a:solidFill>
          <a:latin typeface="Times New Roman" panose="02020603050405020304" pitchFamily="18" charset="0"/>
          <a:ea typeface="標楷體" panose="03000509000000000000" pitchFamily="65" charset="-120"/>
        </a:defRPr>
      </a:lvl4pPr>
      <a:lvl5pPr marL="20002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anose="05050102010706020507" pitchFamily="18" charset="2"/>
        <a:buChar char="·"/>
        <a:defRPr sz="1600" baseline="0">
          <a:solidFill>
            <a:srgbClr val="000000"/>
          </a:solidFill>
          <a:latin typeface="Times New Roman" panose="02020603050405020304" pitchFamily="18" charset="0"/>
          <a:ea typeface="標楷體" panose="03000509000000000000" pitchFamily="65" charset="-120"/>
        </a:defRPr>
      </a:lvl5pPr>
      <a:lvl6pPr marL="24574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itchFamily="18" charset="2"/>
        <a:buChar char="·"/>
        <a:defRPr sz="1600">
          <a:solidFill>
            <a:srgbClr val="000000"/>
          </a:solidFill>
          <a:latin typeface="+mn-lt"/>
        </a:defRPr>
      </a:lvl6pPr>
      <a:lvl7pPr marL="29146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itchFamily="18" charset="2"/>
        <a:buChar char="·"/>
        <a:defRPr sz="1600">
          <a:solidFill>
            <a:srgbClr val="000000"/>
          </a:solidFill>
          <a:latin typeface="+mn-lt"/>
        </a:defRPr>
      </a:lvl7pPr>
      <a:lvl8pPr marL="33718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itchFamily="18" charset="2"/>
        <a:buChar char="·"/>
        <a:defRPr sz="1600">
          <a:solidFill>
            <a:srgbClr val="000000"/>
          </a:solidFill>
          <a:latin typeface="+mn-lt"/>
        </a:defRPr>
      </a:lvl8pPr>
      <a:lvl9pPr marL="3829050" indent="-1905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Font typeface="Symbol" pitchFamily="18" charset="2"/>
        <a:buChar char="·"/>
        <a:defRPr sz="1600">
          <a:solidFill>
            <a:srgbClr val="000000"/>
          </a:solidFill>
          <a:latin typeface="+mn-lt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標題 1"/>
          <p:cNvSpPr>
            <a:spLocks noGrp="1"/>
          </p:cNvSpPr>
          <p:nvPr>
            <p:ph type="ctrTitle"/>
          </p:nvPr>
        </p:nvSpPr>
        <p:spPr>
          <a:xfrm>
            <a:off x="1026952" y="1423554"/>
            <a:ext cx="10138096" cy="1373453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公開軌道資料模擬 — wave 2 進度報告</a:t>
            </a:r>
          </a:p>
        </p:txBody>
      </p:sp>
      <p:sp>
        <p:nvSpPr>
          <p:cNvPr id="5" name="文字方塊 4"/>
          <p:cNvSpPr txBox="1"/>
          <p:nvPr/>
        </p:nvSpPr>
        <p:spPr>
          <a:xfrm>
            <a:off x="577434" y="3217012"/>
            <a:ext cx="11037131" cy="1687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客戶技術審查與專案進度報告</a:t>
            </a:r>
          </a:p>
          <a:p>
            <a:pPr algn="ctr">
              <a:lnSpc>
                <a:spcPct val="150000"/>
              </a:lnSpc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日期:2026-05-19   版本:2026-05-19 進度快照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簡報結構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kern="0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段:站點識別 — 圓點意義、篩選、命名、資訊卡</a:t>
            </a:r>
          </a:p>
          <a:p>
            <a:r>
              <a:rPr lang="en-US" altLang="zh-TW" kern="0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段:Selected-pair 解讀 — 衛星篩選、軌跡、連線、CSV、Rain rate</a:t>
            </a:r>
          </a:p>
          <a:p>
            <a:r>
              <a:rPr lang="en-US" altLang="zh-TW" kern="0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 段:公開軌道資料模擬 (TLE-first) — 已完成、開發中、可驗證</a:t>
            </a:r>
          </a:p>
          <a:p>
            <a:r>
              <a:rPr lang="en-US" altLang="zh-TW" kern="0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 段:資料可信度說明 + 外部來源索引</a:t>
            </a:r>
          </a:p>
          <a:p>
            <a:r>
              <a:rPr lang="en-US" altLang="zh-TW" kern="0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附錄:工程驗證依據 (非外部引用來源)</a:t>
            </a:r>
          </a:p>
          <a:p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名詞說明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Selected-pair:使用者選兩個地面站,系統計算兩站之間可共同看到的衛星。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TLE / SATCAT:公開的衛星軌道兩行參數 / 衛星名冊;用來推算衛星位置與身份。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SGP4:依 TLE 推算衛星位置的標準軌道模型。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LEO / MEO / GEO:低軌 / 中軌 / 地球同步軌道。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CSV audit:下載的稽核表,用來檢查資料來源與模型輸出,不是實測封包。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EIRP / RSRP / T_sys:等效全向輻射功率 / 接收功率指標 / 系統噪聲溫度。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[2] CelesTrak;連線參數定義見 [3] 3GPP TR 38.811 / 38.821。</a:t>
            </a:r>
          </a:p>
          <a:p>
            <a:endParaRPr lang="zh-TW" altLang="en-US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站點標記規則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用途:說明首頁地面站圓點的顏色、大小與能力分類。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圓點底層分成兩個能力等級,畫面再依「目前哪一個等級數量較少」加 pink outline 強調。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三軌能力 (tri-capable):22 個。綠色圓點 r5.5 px;目前為少數群組,全部加 pink outline。</a:t>
            </a:r>
          </a:p>
          <a:p>
            <a:pPr lvl="1"/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 時放大為 r8 px,改套 yellow outline。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雙軌能力 (dual-only):47 個。藍色圓點 r4.5 px + dark outline。</a:t>
            </a:r>
          </a:p>
          <a:p>
            <a:pPr lvl="1"/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 時放大為 r6.5 px,改套 yellow outline。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少數群組規則:目前 tri (22) 少於 dual (47),所以 pink outline 套在 tri;若 registry 變動使 dual 較少,pink 會改套到 dual。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判斷依據:先要求 pair 有共同 RF 頻段,再檢查共同 LEO / MEO / GEO 是否通過 10° 以上仰角的幾何可視條件。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[1][6]-[10];live 計算自 station-compatibility.ts。</a:t>
            </a:r>
          </a:p>
          <a:p>
            <a:endParaRPr lang="zh-TW" altLang="en-US" sz="17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站點篩選條件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用途:整理站點篩選器的分類、畫面選項,以及 Band 的意義。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Orbit:LEO / MEO / GEO — 公開揭露支援的軌道類別。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Handover:2-orbit / 3-orbit — 兩站可共同切換的軌道類別數。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Region:Africa / Asia / Europe / N. America / Oceania / Antarctic / Arctic / S. America — 資料庫 region 欄位。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Band:Ka / Ku / C / X / S / L — 公開揭露支援的 RF 頻段。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解讀邊界:Orbit / Band / Region 是資料庫欄位篩選;Handover 是相容 pair 推導。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篩選結果不等於實際服務證明;不代表營運商已驗證 routing。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[1][6]-[10] 公開站點資料庫。</a:t>
            </a:r>
          </a:p>
          <a:p>
            <a:endParaRPr lang="zh-TW" altLang="en-US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站點命名規則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用途:說明 station identity 為什麼採「站點 / 營運商優先」,而不是國家優先。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同一個國家可有多個 operator 與多個 station site;同一個 operator network 也可能跨國。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展示系統需要唯一的 physical endpoint 來做 routing、screenshot、pair URL;country 粒度太粗。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id:穩定路由鍵,通常為 operator-family + site/locality 的 slug。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name:使用者看到的 public station / teleport / gateway 名稱。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operator / operatorFamily:network ownership 與 pair tier 推論。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country / region:篩選脈絡,不是 endpoint identity。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命名依據:operator service page、station public page、Wikipedia / Wikidata、FCC / ITU filing、World Teleport Association、產業 press。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[1][6]-[10]。</a:t>
            </a:r>
          </a:p>
          <a:p>
            <a:endParaRPr lang="zh-TW" altLang="en-US" sz="17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站點資訊卡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用途:點開單一站點時,讓使用者檢查 endpoint identity、公開來源、capability 欄位,以及是否可選為 Station A/B。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標題:public station / teleport / gateway display name。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欄位清單:operator、operatorFamily、country、region、座標、支援軌道、支援頻段、揭露精度。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 / 備註:primaryUseCase 與 publicDisclosureNotes 公開資料摘要。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來源連結:Public source · sourceTier,連到資料庫 primary URL。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操作:Select as Station A/B;已選 pair 時顯示 pair source tier。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真實性:每個站點都有一個 primary public source;只收公開可佐證至少支援 2 種軌道類別的站。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座標依 disclosurePrecision 可能是 exact,也可能是 municipality 或 operator-family 區域代表座標。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Non-claim:不驗證 commercial routing、private service、兩站間實際流量。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[1][5][6]-[10]。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衛星篩選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用途:說明選定 Station A/B 後,畫面上的衛星候選是怎麼被挑出來。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Pair input:站點 id、座標、支援軌道、支援頻段都來自公開資料庫。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Orbit filter:先取兩站共同揭露支援的軌道類別 — LEO / MEO / GEO intersection。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TLE pool:使用 CelesTrak public GP TLE snapshots;SATCAT summary 補 constellation / operator 脈絡。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Compute cap:互動運算目前每個軌道類別最多取 60 筆 TLE records。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Geometry filter:用 SGP4 propagation + station geometry 計算可視窗,門檻為 10° 仰角。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取樣 cadence:LEO 30 s、MEO 60 s、GEO 120 s。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Pair filter:同一顆衛星必須同時對 A/B 形成重疊可視窗,才會進入候選。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 站點資料庫、[2] CelesTrak。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顯示取捨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用途:說明為什麼第一輪候選衛星很多,畫面最後只強調幾顆。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資料層候選:所有有 pair visibility windows 的衛星,加上 handover target 與 continuity ids。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目前服務衛星:replay 當下由 cross-orbit-live policy 選出的 serving satellite。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視覺強調:active / continuity 用較明顯模型;context actors 降低視覺權重。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Labels:最多顯示前 6 個 labels;active / candidate / continuity 會保留 label。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Uplink / downlink pulses:只跟目前 active link 走,不是所有候選都畫 packet flow。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整體上是 readability policy:資料層保留完整候選與來源脈絡,視覺層只強調目前服務、切換目標、連續性相關衛星。</a:t>
            </a:r>
          </a:p>
          <a:p>
            <a:endParaRPr lang="zh-TW" altLang="en-US" sz="17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軌跡與可視窗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真實來源:衛星身份、NORAD / COSPAR 欄位、TLE 兩行軌道資料來自 CelesTrak snapshots。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Station endpoint 來自公開站點資料庫。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推導資料:系統將 TLE 用 SGP4 推算成取樣位置,再用 WGS84 station coordinates 計算每個時間點的仰角。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仰角高於 threshold 的連續區段合併成 visibility windows;A/B windows 的重疊區段就是 pair visibility。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Scene actor set 來自 pair visibility windows、handover target ids、continuity ids;排序上 active link 優先,其次是最早可視窗。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如果某組 selected-pair 沒有可視窗,系統不會補 fake satellite 或 fake active link。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Display-only:camera framing、altitude compression、label density、generic satellite mesh、visual lane placement 只是讓畫面可讀,不是來源資料。</a:t>
            </a:r>
          </a:p>
          <a:p>
            <a:r>
              <a:rPr lang="en-US" altLang="zh-TW" sz="17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[1][2][6]-[10]。</a:t>
            </a:r>
          </a:p>
          <a:p>
            <a:endParaRPr lang="zh-TW" altLang="en-US" sz="17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連線與傳輸模型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Active satellite:由 pair visibility 候選交給 cross-orbit-live policy 選出。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Uplink / downlink lines:幾何端點是 Station A → satellite → Station B;方向視覺是 display grammar。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Moving packets / pulses:純視覺化節奏,不是 packet capture、traffic logs、或 measured throughput。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Handover reason:模型化 policy output;依仰角、剩餘可視時間、latency、jitter、relative RSRP scoring。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Latency:用斜距推估 one-way propagation delay,依 3GPP TR 38.811 §6.7。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Throughput / jitter / rain impact:模型估算,使用自由空間路徑損耗、gas absorption、rain attenuation 與降額規則。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模型依據:FSPL 來自 3GPP TR 38.811 §6.6.2;gas / rain attenuation 參考 ITU-R P.676 / P.618;handover policy 參考 TR 38.821 §7.3 的 trigger metrics。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[3][4]。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Selected-pair 真實性邊界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真實公開資料:station identity / coordinates precision / public source、TLE satellite identity、NORAD / COSPAR、SATCAT summary。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開源推導:satellite sampled positions、tracks、station visibility、pair visibility intersection、candidate satellite set。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模型估算:active satellite choice、handover decision、latency、jitter、throughput、rain impact、comm time summary。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純視覺:uplink/downlink pulses、packet-like dots、display lanes、camera、label density、generic satellite model。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不可宣稱:營運商實測 telemetry、真實 packet flow、實測 congestion、private gateway schedule、commercial routing。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目前缺口:EIRP、allocated bandwidth、system temperature、完整 atmospheric grids 仍是待確認來源;因此 throughput / RSRP 類語句只能保持模型估算,不能說是實測或 operator-confirmed。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[1][2][3][4][5][6]-[10]。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Download CSV 稽核資料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用途:selected-pair 的 Download CSV 是模擬運算結果的稽核資料,用來重現右側面板數值、檢查資料來源與真實性邊界。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模擬運算摘要:Station A/B、time window、shared orbits、來源等級、座標精度標籤。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站點精度:座標精度、raw lat/lon、畫面位置是否等於 source truth。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TLE 來源清單:CelesTrak path、record counts、cap、parse health、epoch / source health。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衛星 / 可視窗來源脈絡:哪些 satellite 被軌道推算、sample cadence、A/B visibility source、pair intersection。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通訊 / 切換事件:comm time summary、handover reason;是推導 / 模型結果,不是 traffic logs。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模型輸出:model id、standards refs、input summary、non-claim。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讀法:先看來源等級與座標精度 → TLE manifest 是否 fresh / capped → 衛星脈絡對照右側面板 → Non-claim 收尾。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Non-claim:CSV 是稽核資料,不是 packet capture、operator telemetry、commercial routing 證據。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[1][2][3][4]。</a:t>
            </a:r>
          </a:p>
          <a:p>
            <a:endParaRPr lang="zh-TW" alt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Rain rate 控制重點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為什麼只開放 Rain rate slider:Station pair、time window、TLE pool、orbit support 都是 selected-pair 的資料來源輸入。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Slider 可在不改站點與 TLE 真實值的前提下,展示 weather fade 壓力測試。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不會改變:站點座標、衛星身份、TLE propagation、visibility windows、候選池。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直接影響:ITU-R P.618 rain attenuation、Ku/Ka 模型化 throughput、jitter。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可能連帶影響:若 link score 改變,active satellite、comm time、handover count 可能跟著變動。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報告策略:右側面板第 2 列 (Rain rate) 與第 5 列 (d1 Rain impact) 要特別講;其他 rows 帶過。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重點分類:公開來源、幾何推導、模型輸出、純視覺輔助。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外部來源 [4] ITU-R P.618 / P.838。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公開軌道資料模擬目標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TLE-first 的意思:衛星身份與軌道先使用公開 TLE / SATCAT 資料,再用模型推導站點可視窗、連線選擇與天候影響。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它不是營運商實測資料,也不是真實封包紀錄。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衛星是否真實:用 CelesTrak GP / SATCAT 的公開衛星身份與軌道資料。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軌跡怎麼來:用 SGP4 依 TLE 推算位置,再與站點座標計算可視窗。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連線數字怎麼來:latency、throughput、jitter、handover 是模型估算,會標示來源與限制。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缺資料怎麼處理:EIRP / bandwidth / T_sys 等必要資料未確認時顯示 unavailable。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視覺動畫怎麼看:線條、封包點、camera、label 是輔助理解,不是真實流量。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目前只可說「基礎能力已建立」;完整前後比較畫面 (F9) 仍在開發中。</a:t>
            </a:r>
          </a:p>
          <a:p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來源:SDD §7、§11、§12.1;slice-0 §6.2;效能測試報告 (內部編號 S1)。</a:t>
            </a:r>
          </a:p>
          <a:p>
            <a:endParaRPr lang="zh-TW" altLang="en-US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目前已完成基礎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公開 TLE / SATCAT source path:衛星身份與軌道來源可追溯,不補 fake actor。 [2]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模擬結果來源欄位:CSV / 右側面板可追到資料來源、模型、non-claim。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Station elevation prep:69 個站點已有高度與 horizon mask 欄位,等待 runtime 接線。 [1][5]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Slice-0 baseline:五個 walkthrough URL 已固定為後續 comparison 的基準。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Performance spike:LEO 200 cap @ 30 s 已有 p95 391.2 ms 的證據。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Refresh 是 build-step / manifest path;runtime hot path 不做網路抓取。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詳細截圖請見 markdown 完整版 slide 15 current-selected-pair-overview.png。</a:t>
            </a:r>
          </a:p>
          <a:p>
            <a:endParaRPr lang="zh-TW" altLang="en-US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仍在開發與待確認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站點高度 / 地形:把 elevationM / terrainMaskDeg 接到可視窗、雨衰減高度、右側面板第 6 列。</a:t>
            </a:r>
          </a:p>
          <a:p>
            <a:pPr lvl="1"/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待確認:程式尚未接讀這些欄位。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衛星候選量與 policy:LEO 200 cap @ 30 s、cap disclosure、policy selector。</a:t>
            </a:r>
          </a:p>
          <a:p>
            <a:pPr lvl="1"/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待確認:目前 p95 391.2 ms PASS;LEO 200 + 10 s 尚未通過。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視覺證據:TLE freshness、active badge、pre/post comparison shell。</a:t>
            </a:r>
          </a:p>
          <a:p>
            <a:pPr lvl="1"/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待確認:Comparison evidence 尚未完成。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RSRP / throughput:接收功率指標、EIRP、頻寬、T_sys、Shannon throughput。</a:t>
            </a:r>
          </a:p>
          <a:p>
            <a:pPr lvl="1"/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待確認:來源未確認時顯示 unavailable。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大氣 / 雨量格點:cloud、scintillation、rain height、rain climatology grids。</a:t>
            </a:r>
          </a:p>
          <a:p>
            <a:pPr lvl="1"/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待確認:需先確認 ITU-R grids 的使用 / 打包政策。 [4]</a:t>
            </a:r>
          </a:p>
          <a:p>
            <a:endParaRPr lang="zh-TW" alt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目前可驗證證據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目前畫面截圖:selected-pair route 已顯示資料來源、模型揭露、CSV audit。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代表路徑基準:五組代表路徑的右側面板第 3 / 5 / 6 列值已固定為基準。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效能證據:LEO 60 + 10 s PASS;LEO 200 + 30 s PASS;LEO 200 + 10 s FAIL。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來源脈絡:Station source、TLE source、SATCAT summary、CSV export 可交叉檢查。 [1][2]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比較畫面邊界:前後比較畫面仍在開發中,目前不可宣稱已完成比較驗證。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來源:slice-0 §6.2 values 與 2026-05-19 重新擷取的 screenshots;細節列於工程驗證依據。</a:t>
            </a:r>
          </a:p>
          <a:p>
            <a:endParaRPr lang="zh-TW" altLang="en-US" sz="18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資料可信度說明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報告時要清楚分辨:哪些來自公開來源、哪些是模型推導、哪些只是視覺輔助。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Station card:公開資料庫 + source links;座標可能是 exact 或 representative。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Download CSV:用來稽核資料來源與右側面板數值,不是實測 telemetry。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Rain rate:模型控制參數,不是實測天氣。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Satellite scene:衛星身份與位置來自公開 TLE 推導。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數值指標:除非明確標為 source-derived,否則是模型估算。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Moving packets / lanes / camera:視覺輔助,不是真實 packet capture 或 traffic telemetry。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缺少必要來源:顯示 unavailable / pending,不靜默補值。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不宣稱:營運商實測 telemetry、實測 throughput / jitter / congestion、private gateway schedules、live commercial routing、runtime Internet refresh、營運商已驗證的 station-to-station service。</a:t>
            </a:r>
          </a:p>
          <a:p>
            <a:endParaRPr lang="zh-TW" alt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參考資料 — 站點公開來源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Operator network pages: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KSAT Global Ground Station Network — ksat.no/ground-network-services/the-ksat-global-ground-station-network/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 O3b mPOWER gateways — ses.com/press-release/sess-next-gen-ngso-system-readies-launch-8-initial-o3b-mpower-satellite-ground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Intelsat teleport chart — intelsat.com/global-network/terrestrial-network/teleport-chart/</a:t>
            </a:r>
          </a:p>
          <a:p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[6] GEO / LEO / MEO operator pages: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Eutelsat GEO-LEO network — eutelsat.com/satellite-network/geo-leo-multi-orbit-satellite-network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Telesat teleports — telesat.com/teleports/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SES gateway update — ses.com/press-release/seventh-and-eighth-o3b-mpower-satellites-start-delivering-connectivity-services</a:t>
            </a:r>
          </a:p>
          <a:p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[7] Teleport / facility profiles: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World Teleport Association — worldteleport.org/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USEI Vernon Valley — usei-teleport.com/vernon-valley/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SANSA Space Operations — sansa.org.za/products-services2/spaceoperations/</a:t>
            </a:r>
          </a:p>
          <a:p>
            <a:pPr lvl="1"/>
            <a:r>
              <a:rPr lang="en-US" altLang="zh-TW" sz="13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NRCan Inuvik Satellite Station Facility — natural-resources.canada.ca/.../inuvik-satellite-station-facility</a:t>
            </a:r>
          </a:p>
          <a:p>
            <a:endParaRPr lang="zh-TW" altLang="en-US" sz="13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參考資料 — 站點補充來源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[8] Public filings / facility records: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FCC IBFS SES-LIC-20130124-00089 (O3b Vernon TX) — fcc.report/IBFS/SES-LIC-20130124-00089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公開地址或設施清單(僅在 operator pages 缺確切座標時引用)。</a:t>
            </a:r>
          </a:p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[9] Public geospatial pages: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Wikipedia / Wikidata station pages — Svalbard、Troll、Tromso、Awarua、Fuchsstadt Earth Station 等。</a:t>
            </a:r>
          </a:p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[10] Gateway press / news evidence: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Orange Martinique — newsroom.orange.com/orange-and-eutelsat-inaugurate-the-new-eutelsat-gateway-in-martinique-a-key-enabler-of-connectivity-in-the-caribbean/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Speedcast Cali — speedcast.com/newsroom/press-releases/2024/speedcast-inaugurates-new-teleport-facility-serving-as-latam-gateway-for-eutelsat-oneweb/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SpaceNews Peru gateway — spacenews.com/38446satellite-telecom-o3b-networks-opens-gateway-station-in-peru/</a:t>
            </a:r>
          </a:p>
          <a:p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參考資料 — 衛星、標準與地形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[2] CelesTrak public GP / SATCAT: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celestrak.org/NORAD/elements/gp.php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celestrak.org/satcat/satcat.csv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Terms:celestrak.org/terms-of-use.php</a:t>
            </a:r>
          </a:p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 3GPP technical reports: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 38.811 — 3gpp.org/ftp/Specs/archive/38_series/38.811/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 38.821 — 3gpp.org/ftp/Specs/archive/38_series/38.821/</a:t>
            </a:r>
          </a:p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ITU-R recommendations: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P.618 / P.676 / P.838 / P.835 / P.837 / P.839 / P.840 / S.1528 / S.465 via itu.int/rec/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Terms:itu.int/en/about/Pages/terms-of-use.aspx</a:t>
            </a:r>
          </a:p>
          <a:p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[5] Terrain / elevation: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NASA / USGS SRTM 1 arc-second DEM — earthexplorer.usgs.gov/</a:t>
            </a:r>
          </a:p>
          <a:p>
            <a:pPr lvl="1"/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Open-Elevation — open-elevation.com/</a:t>
            </a:r>
          </a:p>
          <a:p>
            <a:endParaRPr lang="zh-TW" altLang="en-US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kern="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附錄 — 工程驗證依據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這頁不是外部引用來源;它只說明本簡報中的系統設定、測試數字與畫面基準,可以在專案內哪裡查到。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public/fixtures/ground-stations/multi-orbit-public-registry-sources.md — 內部整理 per-station URL、source snippet、coordinate / capability evidence。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docs/sdd/multi-station-selector/tle-first-fidelity-uplift.md §7 / §11 / §12.1 — 待開發項目、風險、spike gates。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docs/sdd/multi-station-selector/slice-0-baseline.md §6.2 — 五組代表路徑的右側面板基準值。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docs/spike/multi-station-selector/spike-S1-cap-cadence-perf.md — LEO cap / cadence 的 p95 測試結果。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src/features/multi-station-selector/runtime-projection-csv.ts — Download CSV 欄位與稽核匯出格式。</a:t>
            </a:r>
          </a:p>
          <a:p>
            <a:r>
              <a:rPr lang="en-US" altLang="zh-TW" sz="15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src/features/multi-station-selector/runtime-data-completeness.ts — 來源脈絡、non-claim、缺資料狀態。</a:t>
            </a:r>
          </a:p>
          <a:p>
            <a:endParaRPr lang="zh-TW" altLang="en-US" sz="15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自訂 1">
      <a:dk1>
        <a:srgbClr val="35377F"/>
      </a:dk1>
      <a:lt1>
        <a:srgbClr val="FFFFFF"/>
      </a:lt1>
      <a:dk2>
        <a:srgbClr val="660066"/>
      </a:dk2>
      <a:lt2>
        <a:srgbClr val="B7C1EB"/>
      </a:lt2>
      <a:accent1>
        <a:srgbClr val="ECD882"/>
      </a:accent1>
      <a:accent2>
        <a:srgbClr val="B2B2B2"/>
      </a:accent2>
      <a:accent3>
        <a:srgbClr val="FFFFFF"/>
      </a:accent3>
      <a:accent4>
        <a:srgbClr val="353A77"/>
      </a:accent4>
      <a:accent5>
        <a:srgbClr val="F4E9C1"/>
      </a:accent5>
      <a:accent6>
        <a:srgbClr val="A1A1A1"/>
      </a:accent6>
      <a:hlink>
        <a:srgbClr val="6F89F7"/>
      </a:hlink>
      <a:folHlink>
        <a:srgbClr val="CFDBFD"/>
      </a:folHlink>
    </a:clrScheme>
    <a:fontScheme name="正式文體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rgbClr val="003065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rgbClr val="003065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hk1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hk1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hk1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hk1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hk1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hk1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hk1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hk1 8">
        <a:dk1>
          <a:srgbClr val="40458C"/>
        </a:dk1>
        <a:lt1>
          <a:srgbClr val="FFFFFF"/>
        </a:lt1>
        <a:dk2>
          <a:srgbClr val="660066"/>
        </a:dk2>
        <a:lt2>
          <a:srgbClr val="B7C1EB"/>
        </a:lt2>
        <a:accent1>
          <a:srgbClr val="ECD882"/>
        </a:accent1>
        <a:accent2>
          <a:srgbClr val="B2B2B2"/>
        </a:accent2>
        <a:accent3>
          <a:srgbClr val="FFFFFF"/>
        </a:accent3>
        <a:accent4>
          <a:srgbClr val="353A77"/>
        </a:accent4>
        <a:accent5>
          <a:srgbClr val="F4E9C1"/>
        </a:accent5>
        <a:accent6>
          <a:srgbClr val="A1A1A1"/>
        </a:accent6>
        <a:hlink>
          <a:srgbClr val="6F89F7"/>
        </a:hlink>
        <a:folHlink>
          <a:srgbClr val="CFDBF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929F1AC0-EDE5-4E84-B296-76809860B882}" vid="{D422FDD8-D1F8-4744-A7BD-E0F19A28C55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42473</TotalTime>
  <Words>94</Words>
  <Application>Microsoft Office PowerPoint</Application>
  <PresentationFormat>寬螢幕</PresentationFormat>
  <Paragraphs>21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11" baseType="lpstr">
      <vt:lpstr>Söhne</vt:lpstr>
      <vt:lpstr>Arial</vt:lpstr>
      <vt:lpstr>Calibri</vt:lpstr>
      <vt:lpstr>Symbol</vt:lpstr>
      <vt:lpstr>Tahoma</vt:lpstr>
      <vt:lpstr>Times New Roman</vt:lpstr>
      <vt:lpstr>佈景主題1</vt:lpstr>
      <vt:lpstr>Hierarchical Reinforcement Learning for RIS-Assisted Energy-Efficient RAN</vt:lpstr>
      <vt:lpstr>Outline</vt:lpstr>
      <vt:lpstr>Abstract</vt:lpstr>
      <vt:lpstr>Introduction(1/2)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Few-Shot Transfer Learning Approach Using Text-Label Embedding with Legal Attributes for Law Article Prediction</dc:title>
  <dc:creator>Windows 使用者</dc:creator>
  <cp:lastModifiedBy>柏宏 吳</cp:lastModifiedBy>
  <cp:revision>1327</cp:revision>
  <dcterms:created xsi:type="dcterms:W3CDTF">2019-10-21T01:22:34Z</dcterms:created>
  <dcterms:modified xsi:type="dcterms:W3CDTF">2025-10-22T03:38:23Z</dcterms:modified>
</cp:coreProperties>
</file>
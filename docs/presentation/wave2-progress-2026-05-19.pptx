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1A1A1"/>
    <a:srgbClr val="5169CF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90" d="100"/>
          <a:sy n="90" d="100"/>
        </p:scale>
        <p:origin x="117" y="45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10" Type="http://schemas.openxmlformats.org/officeDocument/2006/relationships/tableStyles" Target="tableStyles.xml"/><Relationship Id="rId9" Type="http://schemas.openxmlformats.org/officeDocument/2006/relationships/theme" Target="theme/theme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uan lin" userId="75d96c0581c73542" providerId="LiveId" clId="{9148F619-F19C-4406-B500-EC4893408186}"/>
    <pc:docChg chg="custSel addSld modSld">
      <pc:chgData name="hsuan lin" userId="75d96c0581c73542" providerId="LiveId" clId="{9148F619-F19C-4406-B500-EC4893408186}" dt="2021-11-04T09:01:06.892" v="216" actId="20577"/>
      <pc:docMkLst>
        <pc:docMk/>
      </pc:docMkLst>
      <pc:sldChg chg="modSp mod">
        <pc:chgData name="hsuan lin" userId="75d96c0581c73542" providerId="LiveId" clId="{9148F619-F19C-4406-B500-EC4893408186}" dt="2021-11-04T09:00:58.512" v="215" actId="20577"/>
        <pc:sldMkLst>
          <pc:docMk/>
          <pc:sldMk cId="3319272975" sldId="257"/>
        </pc:sldMkLst>
        <pc:spChg chg="mod">
          <ac:chgData name="hsuan lin" userId="75d96c0581c73542" providerId="LiveId" clId="{9148F619-F19C-4406-B500-EC4893408186}" dt="2021-11-04T09:00:26.817" v="209" actId="14100"/>
          <ac:spMkLst>
            <pc:docMk/>
            <pc:sldMk cId="3319272975" sldId="257"/>
            <ac:spMk id="2" creationId="{D717A888-3A67-4167-B3A0-985464D8B0A4}"/>
          </ac:spMkLst>
        </pc:spChg>
        <pc:spChg chg="mod">
          <ac:chgData name="hsuan lin" userId="75d96c0581c73542" providerId="LiveId" clId="{9148F619-F19C-4406-B500-EC4893408186}" dt="2021-11-04T09:00:58.512" v="215" actId="20577"/>
          <ac:spMkLst>
            <pc:docMk/>
            <pc:sldMk cId="3319272975" sldId="257"/>
            <ac:spMk id="3" creationId="{42923D2B-85CD-4334-BA04-D855720022E2}"/>
          </ac:spMkLst>
        </pc:spChg>
      </pc:sldChg>
      <pc:sldChg chg="modSp mod modNotesTx">
        <pc:chgData name="hsuan lin" userId="75d96c0581c73542" providerId="LiveId" clId="{9148F619-F19C-4406-B500-EC4893408186}" dt="2021-11-04T08:48:45.440" v="108"/>
        <pc:sldMkLst>
          <pc:docMk/>
          <pc:sldMk cId="1648703993" sldId="258"/>
        </pc:sldMkLst>
        <pc:spChg chg="mod">
          <ac:chgData name="hsuan lin" userId="75d96c0581c73542" providerId="LiveId" clId="{9148F619-F19C-4406-B500-EC4893408186}" dt="2021-11-04T07:26:18.623" v="95" actId="2711"/>
          <ac:spMkLst>
            <pc:docMk/>
            <pc:sldMk cId="1648703993" sldId="258"/>
            <ac:spMk id="3" creationId="{65806503-5C01-4B3E-86E9-D48C4E519BF5}"/>
          </ac:spMkLst>
        </pc:spChg>
      </pc:sldChg>
      <pc:sldChg chg="modSp mod">
        <pc:chgData name="hsuan lin" userId="75d96c0581c73542" providerId="LiveId" clId="{9148F619-F19C-4406-B500-EC4893408186}" dt="2021-11-04T07:03:01.412" v="80" actId="403"/>
        <pc:sldMkLst>
          <pc:docMk/>
          <pc:sldMk cId="2307341328" sldId="259"/>
        </pc:sldMkLst>
        <pc:spChg chg="mod">
          <ac:chgData name="hsuan lin" userId="75d96c0581c73542" providerId="LiveId" clId="{9148F619-F19C-4406-B500-EC4893408186}" dt="2021-11-04T07:03:01.412" v="80" actId="403"/>
          <ac:spMkLst>
            <pc:docMk/>
            <pc:sldMk cId="2307341328" sldId="259"/>
            <ac:spMk id="2" creationId="{BE9F8501-D86B-4B94-9825-ED91F8F5CEDA}"/>
          </ac:spMkLst>
        </pc:spChg>
      </pc:sldChg>
      <pc:sldChg chg="modSp mod">
        <pc:chgData name="hsuan lin" userId="75d96c0581c73542" providerId="LiveId" clId="{9148F619-F19C-4406-B500-EC4893408186}" dt="2021-11-04T06:54:32.653" v="18" actId="255"/>
        <pc:sldMkLst>
          <pc:docMk/>
          <pc:sldMk cId="4084710029" sldId="260"/>
        </pc:sldMkLst>
        <pc:spChg chg="mod">
          <ac:chgData name="hsuan lin" userId="75d96c0581c73542" providerId="LiveId" clId="{9148F619-F19C-4406-B500-EC4893408186}" dt="2021-11-04T06:54:32.653" v="18" actId="255"/>
          <ac:spMkLst>
            <pc:docMk/>
            <pc:sldMk cId="4084710029" sldId="260"/>
            <ac:spMk id="2" creationId="{74B3FBEF-0419-4E49-9342-98A87E502371}"/>
          </ac:spMkLst>
        </pc:spChg>
      </pc:sldChg>
      <pc:sldChg chg="modSp mod">
        <pc:chgData name="hsuan lin" userId="75d96c0581c73542" providerId="LiveId" clId="{9148F619-F19C-4406-B500-EC4893408186}" dt="2021-11-04T08:51:43.745" v="136" actId="20577"/>
        <pc:sldMkLst>
          <pc:docMk/>
          <pc:sldMk cId="4154017034" sldId="261"/>
        </pc:sldMkLst>
        <pc:spChg chg="mod">
          <ac:chgData name="hsuan lin" userId="75d96c0581c73542" providerId="LiveId" clId="{9148F619-F19C-4406-B500-EC4893408186}" dt="2021-11-04T06:54:43.552" v="29" actId="20577"/>
          <ac:spMkLst>
            <pc:docMk/>
            <pc:sldMk cId="4154017034" sldId="261"/>
            <ac:spMk id="2" creationId="{BE4DD4BB-4ED2-4BE3-8164-0A694E54E0B1}"/>
          </ac:spMkLst>
        </pc:spChg>
        <pc:spChg chg="mod">
          <ac:chgData name="hsuan lin" userId="75d96c0581c73542" providerId="LiveId" clId="{9148F619-F19C-4406-B500-EC4893408186}" dt="2021-11-04T08:51:43.745" v="136" actId="20577"/>
          <ac:spMkLst>
            <pc:docMk/>
            <pc:sldMk cId="4154017034" sldId="261"/>
            <ac:spMk id="3" creationId="{1EE41F18-CC6C-4053-8089-19B11BC56C59}"/>
          </ac:spMkLst>
        </pc:spChg>
      </pc:sldChg>
      <pc:sldChg chg="modSp new mod">
        <pc:chgData name="hsuan lin" userId="75d96c0581c73542" providerId="LiveId" clId="{9148F619-F19C-4406-B500-EC4893408186}" dt="2021-11-04T08:59:22.104" v="194" actId="403"/>
        <pc:sldMkLst>
          <pc:docMk/>
          <pc:sldMk cId="1838510390" sldId="262"/>
        </pc:sldMkLst>
        <pc:spChg chg="mod">
          <ac:chgData name="hsuan lin" userId="75d96c0581c73542" providerId="LiveId" clId="{9148F619-F19C-4406-B500-EC4893408186}" dt="2021-11-04T08:59:22.104" v="194" actId="403"/>
          <ac:spMkLst>
            <pc:docMk/>
            <pc:sldMk cId="1838510390" sldId="262"/>
            <ac:spMk id="2" creationId="{86A5D7C6-39BD-4B31-881D-928C71686C8B}"/>
          </ac:spMkLst>
        </pc:spChg>
      </pc:sldChg>
      <pc:sldChg chg="modSp new mod">
        <pc:chgData name="hsuan lin" userId="75d96c0581c73542" providerId="LiveId" clId="{9148F619-F19C-4406-B500-EC4893408186}" dt="2021-11-04T09:00:43.110" v="213" actId="20577"/>
        <pc:sldMkLst>
          <pc:docMk/>
          <pc:sldMk cId="739603479" sldId="263"/>
        </pc:sldMkLst>
        <pc:spChg chg="mod">
          <ac:chgData name="hsuan lin" userId="75d96c0581c73542" providerId="LiveId" clId="{9148F619-F19C-4406-B500-EC4893408186}" dt="2021-11-04T09:00:43.110" v="213" actId="20577"/>
          <ac:spMkLst>
            <pc:docMk/>
            <pc:sldMk cId="739603479" sldId="263"/>
            <ac:spMk id="2" creationId="{1A90561D-D2D3-4419-968D-2E4828D05CA7}"/>
          </ac:spMkLst>
        </pc:spChg>
      </pc:sldChg>
      <pc:sldChg chg="modSp new mod">
        <pc:chgData name="hsuan lin" userId="75d96c0581c73542" providerId="LiveId" clId="{9148F619-F19C-4406-B500-EC4893408186}" dt="2021-11-04T09:01:06.892" v="216" actId="20577"/>
        <pc:sldMkLst>
          <pc:docMk/>
          <pc:sldMk cId="1413169759" sldId="264"/>
        </pc:sldMkLst>
        <pc:spChg chg="mod">
          <ac:chgData name="hsuan lin" userId="75d96c0581c73542" providerId="LiveId" clId="{9148F619-F19C-4406-B500-EC4893408186}" dt="2021-11-04T09:01:06.892" v="216" actId="20577"/>
          <ac:spMkLst>
            <pc:docMk/>
            <pc:sldMk cId="1413169759" sldId="264"/>
            <ac:spMk id="2" creationId="{EC75C8D8-4D3E-4377-8793-F374301D37E4}"/>
          </ac:spMkLst>
        </pc:spChg>
      </pc:sldChg>
      <pc:sldChg chg="new">
        <pc:chgData name="hsuan lin" userId="75d96c0581c73542" providerId="LiveId" clId="{9148F619-F19C-4406-B500-EC4893408186}" dt="2021-11-04T08:51:11.087" v="112" actId="680"/>
        <pc:sldMkLst>
          <pc:docMk/>
          <pc:sldMk cId="271767711" sldId="265"/>
        </pc:sldMkLst>
      </pc:sldChg>
      <pc:sldChg chg="new">
        <pc:chgData name="hsuan lin" userId="75d96c0581c73542" providerId="LiveId" clId="{9148F619-F19C-4406-B500-EC4893408186}" dt="2021-11-04T08:51:13.589" v="113" actId="680"/>
        <pc:sldMkLst>
          <pc:docMk/>
          <pc:sldMk cId="2483118633" sldId="266"/>
        </pc:sldMkLst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hyperlink" Target="http://www.csie.ntpu.edu.tw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://www.csie.ntpu.edu.tw/" TargetMode="Externa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Picture 2" descr="http://www.csie.ntpu.edu.tw/../images/com_logo.png">
            <a:hlinkClick r:id="rId3"/>
            <a:extLst>
              <a:ext uri="{FF2B5EF4-FFF2-40B4-BE49-F238E27FC236}">
                <a16:creationId xmlns:a16="http://schemas.microsoft.com/office/drawing/2014/main" id="{D0820140-DB07-4D07-B368-B3793CA8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84" y="473075"/>
            <a:ext cx="4707824" cy="496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355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723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A6B2D65-7BAF-43C7-B91E-A39E5D3D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493407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3684" y="2906713"/>
            <a:ext cx="103954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1EDF3CA7-0D5E-4815-9A06-C63810AA43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36761D3C-A27C-42D7-BF5A-4B09483B2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9159" y="44069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14F02BF-83A2-4F84-B9F8-6E492AF2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4900307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E992FE68-6C66-4246-818C-F3747853A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82D95A3C-1537-438F-9A34-CDA2FCD2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5140" y="340072"/>
            <a:ext cx="4451144" cy="4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70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39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69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96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94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0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36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06586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866DE21F-4EA5-4E05-A2F0-D1DDC61DC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532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/>
          <p:cNvSpPr>
            <a:spLocks noGrp="1"/>
          </p:cNvSpPr>
          <p:nvPr>
            <p:ph type="ctrTitle"/>
          </p:nvPr>
        </p:nvSpPr>
        <p:spPr>
          <a:xfrm>
            <a:off x="1026952" y="1423554"/>
            <a:ext cx="10138096" cy="187345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多軌道衛星-地面站連線模擬展示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577434" y="3617012"/>
            <a:ext cx="11037131" cy="12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進度報告 — 2026-05-19 階段性回顧</a:t>
            </a:r>
          </a:p>
          <a:p>
            <a:pPr algn="ctr"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客戶技術審查與專案進度報告</a:t>
            </a:r>
          </a:p>
          <a:p>
            <a:pPr algn="ctr">
              <a:lnSpc>
                <a:spcPct val="15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日期:2026-05-19   版本:2026-05-19 進度快照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報告大綱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 txBox="1"/>
          <p:nvPr/>
        </p:nvSpPr>
        <p:spPr>
          <a:xfrm>
            <a:off x="565151" y="1021977"/>
            <a:ext cx="11417300" cy="51911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A. 站點識別:圓點顏色、篩選條件、命名規則、資訊卡</a:t>
            </a:r>
          </a:p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B. 地面站對解讀:衛星篩選、軌跡可視窗、連線與傳輸模型、結果可信度</a:t>
            </a:r>
          </a:p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C. 通訊稽核 CSV 匯出 / 雨衰滑桿控制</a:t>
            </a:r>
          </a:p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D. 公開軌道資料模擬狀態:已完成、開發中、可驗證證據</a:t>
            </a:r>
          </a:p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E. 資料可信度與外部參考資料</a:t>
            </a:r>
          </a:p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F. 附錄:工程驗證依據(非外部引用來源)</a:t>
            </a:r>
          </a:p>
          <a:p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名詞說明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本報告常用名詞與用途;首次出現時以中文說明專有名詞。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200000" cy="3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5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名詞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說明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地面站對 (Station Pair)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使用者選兩個地面站,系統計算兩站之間共同可見的衛星。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TLE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Two-Line Element,公開衛星軌道兩行參數;本模擬用它推算衛星位置。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SATCAT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Satellite Catalog,衛星名冊;補衛星名稱、NORAD id、COSPAR id、星座與營運商脈絡。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LEO / MEO / GEO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低軌 / 中軌 / 地球同步軌道。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SGP4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依 TLE 推算衛星位置的標準軌道模型。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通訊稽核 CSV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可下載的稽核表,檢查資料來源與模型輸出,不是實測封包。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EIRP / RSRP / T_sys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等效全向輻射功率 / 接收功率指標 / 系統噪聲溫度。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539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外部來源 [2] CelesTrak;連線參數定義見 [3] 3GPP TR 38.811 / 38.821。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站點標記規則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說明首頁地面站圓點的顏色、大小與能力分類。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2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100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1000003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1000004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能力等級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一般圓點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Selected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意義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三軌能力 (tri-capable)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綠色 r5.5 px;目前少數,加 pink outline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綠色 r8 px + yellow outline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至少能與某個 pair 共享 3 種軌道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雙軌能力 (dual-only)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藍色 r4.5 px + dark outline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藍色 r6.5 px + yellow outline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可形成相容 pair,最多共享 2 種軌道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3140000"/>
            <a:ext cx="11277600" cy="10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pink outline 套在「目前站數較少的能力等級」;現在 tri (22) 少於 dual (47)。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判斷:pair 需共同 RF 頻段 + 共同 LEO/MEO/GEO 通過 10° 以上仰角的幾何可視條件。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外部來源 [1][6]-[10];live 計算自 station-compatibility.ts。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站點篩選條件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整理站點篩選器的分類、畫面選項與意義。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55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1000002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篩選群組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畫面選項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用途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Orbit (軌道)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LEO、MEO、GEO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公開揭露支援的軌道類別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Handover (換手)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2-orbit、3-orbit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兩站可共同切換的軌道類別數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Region (區域)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Africa、Asia、Europe、N. America、Oceania、Antarctic、Arctic、S. America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資料庫 region 欄位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Band (頻段)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Ka、Ku、C、X、S、L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公開揭露支援的 RF 頻段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040000"/>
            <a:ext cx="11277600" cy="7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/ Band / Region 為資料庫欄位篩選;Handover 為推導出的 pair 篩選。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不等於實際服務證明;不代表營運商已驗證 routing。外部來源 [1][6]-[10]。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站點命名規則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說明 station identity 為什麼採「站點 / 營運商優先」,而不是國家優先。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3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欄位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作用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穩定路由鍵,通常為 operator-family + site/locality slug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使用者看到的 public station / teleport / gateway 名稱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operator / operatorFamily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network ownership 與 pair 來源等級推論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country / region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篩選脈絡,不是 endpoint identity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040000"/>
            <a:ext cx="11277600" cy="10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同國可有多個 operator 與多個 station site;同 operator network 可跨國。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展示系統需唯一 physical endpoint 做 routing / screenshot / pair URL;country 粒度太粗。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命名依據:operator service page、station public page、Wikipedia / Wikidata、FCC / ITU filing、World Teleport Association、產業 press 等公開資料。外部來源 [1][6]-[10]。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站點資訊卡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點開單一站點時,讓使用者檢查公開來源、能力欄位與是否可選為 Station A/B。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8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顯示區塊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標題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public station / teleport / gateway display name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欄位清單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operator、operatorFamily、country、region、座標、支援軌道、支援頻段、揭露精度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用途 / 備註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primaryUseCase + publicDisclosureNotes 公開資料摘要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來源連結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Public source · sourceTier,連到資料庫 primary URL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操作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Select as Station A/B;已選 pair 顯示 source tier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490000"/>
            <a:ext cx="11277600" cy="10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每站點都有 primary public source;只收公開可佐證至少支援 2 種軌道類別的站。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座標依 disclosurePrecision 可能是 exact 或 municipality / operator-family 區域代表座標。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Non-claim:不驗證 commercial routing、private service、實際流量。外部來源 [1][5][6]-[10]。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地面站對衛星篩選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選定 Station A/B 後,畫面上的衛星候選怎麼被挑出來。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9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Pair input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站點 id、座標、支援軌道、支援頻段都來自公開資料庫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Orbit filter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兩站共同揭露軌道:LEO / MEO / GEO intersection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TLE pool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CelesTrak public GP TLE snapshots;SATCAT 補 constellation / operator 脈絡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Compute cap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互動運算每軌道類別最多 60 筆 TLE records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Geometry filter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SGP4 propagation + station geometry;門檻 10° 仰角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Pair filter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同顆衛星須同時對 A/B 形成重疊可視窗,才會進入候選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940000"/>
            <a:ext cx="11277600" cy="7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取樣 cadence:LEO 30 s、MEO 60 s、GEO 120 s。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外部來源 [1] 站點資料庫、[2] CelesTrak。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地面站對顯示取捨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第一輪候選衛星可能很多;畫面分層級避免過度擁擠。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1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顯示層級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資料層候選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所有有 pair visibility windows 的衛星 + handover target + continuity ids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目前服務衛星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replay 當下由 cross-orbit-live policy 選出的 serving satellite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視覺強調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active / continuity actors 用較明顯模型;context actors 降低視覺權重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Labels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最多顯示前 6 個 labels;active / candidate / continuity 保留 label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Uplink / downlink pulses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只跟目前 active link 走;不是所有候選都畫 packet flow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49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整體上是 readability policy:資料層保留完整候選與來源脈絡,視覺層只強調目前服務、切換目標、連續性相關衛星。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地面站對軌跡與可視窗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衛星軌跡的真實性層次:公開來源 → 模型推導 → display-only。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18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9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層次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真實公開資料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衛星身份、NORAD / COSPAR、TLE 兩行軌道資料 (CelesTrak)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開源推導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SGP4 取樣位置、WGS84 仰角計算、A/B 重疊區段 → pair visibility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Display-only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camera framing、altitude compression、label density、generic mesh、lane placement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3590000"/>
            <a:ext cx="11277600" cy="7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Scene actor set = pair visibility + handover target + continuity ids;排序:active link 優先 → 最早可視窗。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 pair 無可視窗:不補 fake satellite、不補 fake active link。外部來源 [1][2][6]-[10]。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地面站對連線與傳輸模型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連線數字的來源分層。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5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Surface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解讀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Active satellite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pair visibility 候選交 cross-orbit-live policy 選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Uplink / downlink lines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幾何端點:A → satellite → B;方向為視覺呈現 (display grammar)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Moving packets / pulses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純視覺節奏,非 packet capture / traffic log / measured throughput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Handover reason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模型化 policy output;依仰角、剩餘可視時間、latency、jitter、relative RSRP scoring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Latency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用斜距推估 one-way 延遲;依 3GPP TR 38.811 §6.7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Throughput / jitter / rain impact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FSPL + gas absorption + rain attenuation 模型估算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94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模型依據:FSPL 來自 3GPP TR 38.811 §6.6.2;gas / rain attenuation 參考 ITU-R P.676 / P.618;handover policy 參考 TR 38.821 §7.3。外部來源 [3][4]。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地面站對結果可信度邊界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對外可以怎麼說。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95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範圍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真實公開資料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站點身份 / coordinates precision / public source、TLE 衛星身份、NORAD / COSPAR、SATCAT summary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開源推導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satellite 取樣位置、tracks、station visibility、pair visibility intersection、候選 set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模型估算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active satellite choice、handover decision、latency、jitter、throughput、rain impact、comm time summary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純視覺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uplink/downlink pulses、display lanes、camera、label density、generic satellite model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不可宣稱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營運商實測 telemetry、真實 packet flow、實測 congestion、private gateway schedule、commercial routing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490000"/>
            <a:ext cx="11277600" cy="7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目前缺口:EIRP、bandwidth、T_sys、完整大氣 grid 仍待確認來源;throughput / RSRP 類語句只能保持模型估算。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外部來源 [1][2][3][4][5][6]-[10]。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通訊稽核 CSV 匯出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地面站對結果面板的 CSV 是模擬運算結果的稽核資料,用來重現面板數值、檢查資料來源與可信度邊界。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6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CSV 區塊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解讀方式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模擬運算摘要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Station A/B、time window、shared orbits、來源等級、座標精度標籤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站點精度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座標精度、raw lat/lon、畫面位置是否等於 source truth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TLE 來源清單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CelesTrak path、record counts、cap、parse health、epoch / source health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衛星 / 可視窗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哪些 satellite 被軌道推算、sample cadence、A/B visibility、pair intersection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通訊 / 切換事件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comm time summary、handover reason;為推導 / 模型結果,不是 traffic logs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模型輸出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model id、standards refs、input summary、non-claim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940000"/>
            <a:ext cx="11277600" cy="7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讀法:來源等級與座標精度 → TLE manifest 是否 fresh / capped → 對照面板 → Non-claim 收尾。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Non-claim:稽核資料,非 packet capture / operator telemetry / commercial routing 證據。外部來源 [1][2][3][4]。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雨衰滑桿 (Rain rate) 控制重點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Station pair、time window、TLE pool、orbit support 都是地面站對的資料來源輸入;滑桿在不改這些 source truth 的前提下,展示降雨衰減壓力測試。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18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93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影響範圍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解讀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不會改變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站點座標、衛星身份、TLE propagation、visibility windows、候選池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直接影響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ITU-R P.618 rain attenuation、Ku/Ka 模型化 throughput / jitter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可能連帶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若 link score 改變,active satellite、comm time、handover count 可能跟著變動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3590000"/>
            <a:ext cx="11277600" cy="7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報告策略:面板第 2 列 Rain rate 與第 5 列 d1 Rain impact 要特別講;其他 rows 帶過。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外部來源 [4] ITU-R P.618 / P.838。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公開軌道資料模擬目標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TLE-first:衛星身份與軌道先用公開 TLE / SATCAT,再用模型推導可視窗、連線選擇、天候影響。不是營運商實測,也不是真實封包紀錄。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6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問題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目前做法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衛星是否真實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用 CelesTrak GP / SATCAT 的公開身份與軌道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軌跡怎麼來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SGP4 依 TLE 推算位置 + 站點座標計算可視窗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連線數字怎麼來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latency、throughput、jitter、handover 是模型估算,標示來源與限制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缺資料怎麼處理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EIRP / bandwidth / T_sys 等必要資料未確認時顯示 unavailable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視覺動畫怎麼看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線條、封包點、camera、label 是輔助理解,不是真實流量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490000"/>
            <a:ext cx="11277600" cy="7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目前只可說「基礎能力已建立」;完整前後比較畫面仍在開發中。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來源:SDD §7、§11、§12.1;slice-0 §6.2;效能測試報告 (內部編號 S1)。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目前已完成基礎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已落地的基礎能力(2026-05-19 重新擷取的 screenshot 對應)。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63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1000002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已完成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對報告的意義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追溯依據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公開 TLE / SATCAT source path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衛星身份與軌道來源可追溯,不補 fake actor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模擬結果來源欄位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CSV / 面板可追到資料來源、模型、non-claim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工程驗證依據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Station elevation prep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69 站點已有高度與 horizon mask 欄位,待 runtime 接線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[1][5]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Slice-0 baseline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組 walkthrough URL 已固定為後續 comparison 的基準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工程驗證依據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Performance spike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LEO 200 cap @ 30 s 已有 p95 391.2 ms 的證據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工程驗證依據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49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Refresh 是 build-step / manifest path;runtime hot path 不做網路抓取。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仍在開發與待確認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開發中項目 + 待確認條件。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58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1000002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項目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要完成什麼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待確認條件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站點高度 / 地形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elevationM / terrainMaskDeg 接到可視窗、雨衰、面板第 6 列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程式尚未接讀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候選量與 policy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LEO 200 cap @ 30 s、cap disclosure、policy selector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200 + 10 s 尚未通過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視覺證據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TLE freshness、active badge、pre/post comparison shell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比較證據尚未完成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RSRP / throughput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EIRP / bandwidth / T_sys / Shannon throughput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來源未確認則 unavailable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大氣 / 雨量格點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cloud、scintillation、rain height、rain climatology grid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 ITU-R grid 政策 [4]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49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外部來源 [4] ITU-R;對應 SDD §7 Slice F1–F9。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目前可驗證證據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可引用的 baseline,不是完整 comparison result。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8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證據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可對外說法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目前畫面截圖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地面站對展示頁面已顯示來源、模型揭露、CSV audit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代表路徑基準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組路徑面板第 3 / 5 / 6 列值已固定為基準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效能證據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LEO 60 + 10 s PASS;LEO 200 + 30 s PASS;LEO 200 + 10 s FAIL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來源脈絡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Station / TLE / SATCAT / CSV 可交叉檢查 [1][2]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比較畫面邊界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前後比較畫面仍在開發中;不可宣稱已完成比較驗證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49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來源:slice-0 §6.2 baseline + 2026-05-19 重新擷取的 screenshot;細節見附錄。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資料可信度說明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報告時清楚分辨:公開來源 / 模型推導 / 視覺輔助。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86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類型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可解讀方式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Station card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公開資料庫 + source link;座標可能為 exact 或代表座標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通訊稽核 CSV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稽核資料,非實測 telemetry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雨衰滑桿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模型控制參數,非實測天氣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Satellite scene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衛星身份與位置來自公開 TLE 推導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數值指標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除明確標 source-derived 外,皆為模型估算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缺少必要來源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顯示 unavailable / pending,不靜默補值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94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不宣稱:營運商實測 telemetry、實測 throughput / jitter / congestion、private gateway schedule、commercial routing、runtime Internet refresh、營運商已驗證 station-to-station service。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參考資料 — 站點公開來源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160000"/>
          <a:ext cx="11300000" cy="18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106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Operator network pages — KSAT Global、SES O3b mPOWER、Intelsat teleport chart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[6]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GEO / LEO / MEO operator pages — Eutelsat GEO-LEO、Telesat、SES gateway update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[7]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Teleport / facility profiles — World Teleport Association、USEI、SANSA、NRCan Inuvik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309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完整 URL 列於 markdown 完整版進度報告。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參考資料 — 站點補充來源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160000"/>
          <a:ext cx="11300000" cy="18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106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[8]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Public filings / facility records — FCC IBFS SES-LIC-20130124-00089;公開地址或設施清單(僅在 operator pages 缺確切座標時引用)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[9]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Public geospatial pages — Wikipedia / Wikidata for Svalbard、Troll、Tromso、Awarua、Fuchsstadt Earth Station 等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[10]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Gateway press / news evidence — Orange Martinique、Speedcast Cali、SpaceNews Peru gateway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309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完整 URL 列於 markdown 完整版進度報告。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參考資料 — 衛星、標準與地形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160000"/>
          <a:ext cx="113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106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CelesTrak public GP / SATCAT — celestrak.org/NORAD/elements/gp.php + satcat.csv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[3]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3GPP TR 38.811、TR 38.821 — 3gpp.org/ftp/Specs/archive/38_series/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ITU-R recommendations P.618 / P.676 / P.838 / P.835 / P.837 / P.839 / P.840 / S.1528 / S.465 via itu.int/rec/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Terrain / elevation — NASA / USGS SRTM 1″ DEM via earthexplorer.usgs.gov;Open-Elevation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354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完整 URL 列於 markdown 完整版進度報告。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附錄 — 工程驗證依據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前言"/>
          <p:cNvSpPr txBox="1"/>
          <p:nvPr/>
        </p:nvSpPr>
        <p:spPr>
          <a:xfrm>
            <a:off x="457200" y="1160000"/>
            <a:ext cx="112776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本頁不是外部引用來源;只說明本簡報的系統設定、測試數字與基準在專案內哪裡查到。</a:t>
            </a:r>
          </a:p>
        </p:txBody>
      </p:sp>
      <p:graphicFrame>
        <p:nvGraphicFramePr>
          <p:cNvPr id="100" name="表格"/>
          <p:cNvGraphicFramePr>
            <a:graphicFrameLocks noGrp="1"/>
          </p:cNvGraphicFramePr>
          <p:nvPr/>
        </p:nvGraphicFramePr>
        <p:xfrm>
          <a:off x="457200" y="1660000"/>
          <a:ext cx="113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1000000"/>
                    </a:ext>
                  </a:extLst>
                </a:gridCol>
                <a:gridCol w="7100000">
                  <a:extLst>
                    <a:ext uri="{9D8B030D-6E8A-4147-A177-3AD203B41FA5}">
                      <a16:colId xmlns:a16="http://schemas.microsoft.com/office/drawing/2014/main" val="1000001"/>
                    </a:ext>
                  </a:extLst>
                </a:gridCol>
              </a:tblGrid>
              <a:tr h="50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依據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用途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multi-orbit-public-registry-sources.md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站點 URL / source snippet / coordinate / capability evidence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tle-first-fidelity-uplift.md §7 / §11 / §12.1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待開發、風險、spike gate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slice-0-baseline.md §6.2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組代表路徑面板基準值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spike-S1-cap-cadence-perf.md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LEO cap / cadence p95 測試結果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runtime-projection-csv.ts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CSV 欄位與稽核匯出格式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50000"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runtime-data-completeness.ts</a:t>
                      </a:r>
                    </a:p>
                  </a:txBody>
                  <a:tcPr/>
                </a:tc>
                <a:tc>
                  <a:txBody>
                    <a:bodyPr wrap="square" lIns="91440" tIns="45720" rIns="91440" bIns="45720" anchor="ctr">
                      <a:normAutofit/>
                    </a:bodyPr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來源脈絡 / non-claim / 缺資料狀態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備註"/>
          <p:cNvSpPr txBox="1"/>
          <p:nvPr/>
        </p:nvSpPr>
        <p:spPr>
          <a:xfrm>
            <a:off x="457200" y="4940000"/>
            <a:ext cx="112776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此頁列內部專案文件路徑,非外部引用來源。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42473</TotalTime>
  <Words>94</Words>
  <Application>Microsoft Office PowerPoint</Application>
  <PresentationFormat>寬螢幕</PresentationFormat>
  <Paragraphs>21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Söhne</vt:lpstr>
      <vt:lpstr>Arial</vt:lpstr>
      <vt:lpstr>Calibri</vt:lpstr>
      <vt:lpstr>Symbol</vt:lpstr>
      <vt:lpstr>Tahoma</vt:lpstr>
      <vt:lpstr>Times New Roman</vt:lpstr>
      <vt:lpstr>佈景主題1</vt:lpstr>
      <vt:lpstr>Hierarchical Reinforcement Learning for RIS-Assisted Energy-Efficient RAN</vt:lpstr>
      <vt:lpstr>Outline</vt:lpstr>
      <vt:lpstr>Abstract</vt:lpstr>
      <vt:lpstr>Introduction(1/2)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1327</cp:revision>
  <dcterms:created xsi:type="dcterms:W3CDTF">2019-10-21T01:22:34Z</dcterms:created>
  <dcterms:modified xsi:type="dcterms:W3CDTF">2025-10-22T03:38:23Z</dcterms:modified>
</cp:coreProperties>
</file>